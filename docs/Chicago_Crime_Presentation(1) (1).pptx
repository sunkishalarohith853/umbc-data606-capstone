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10"/>
  </p:normalViewPr>
  <p:slideViewPr>
    <p:cSldViewPr snapToGrid="0" snapToObjects="1">
      <p:cViewPr varScale="1">
        <p:scale>
          <a:sx n="150" d="100"/>
          <a:sy n="150" d="100"/>
        </p:scale>
        <p:origin x="150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9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1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3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0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2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1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8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4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0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38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8920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40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34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01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32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5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1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Chicago Crime Probability Prediction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Rohith Sunkishala</a:t>
            </a:r>
          </a:p>
          <a:p>
            <a:r>
              <a:t>Campus ID: MT29058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Chicago Crime Probability Prediction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Predict crime occurrence probability in Chicago.</a:t>
            </a:r>
          </a:p>
          <a:p>
            <a:pPr>
              <a:defRPr sz="2000"/>
            </a:pPr>
            <a:r>
              <a:t>• Leverages machine learning for crime risk estimation.</a:t>
            </a:r>
          </a:p>
          <a:p>
            <a:pPr>
              <a:defRPr sz="2000"/>
            </a:pPr>
            <a:r>
              <a:t>• Includes extensive exploratory data analysis (EDA).</a:t>
            </a:r>
          </a:p>
          <a:p>
            <a:pPr>
              <a:defRPr sz="2000"/>
            </a:pPr>
            <a:r>
              <a:t>• Interactive web app developed using Streamlit.</a:t>
            </a:r>
          </a:p>
          <a:p>
            <a:pPr>
              <a:defRPr sz="2000"/>
            </a:pPr>
            <a:r>
              <a:t>• Supports real-time decision-making for public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Aim: Estimate likelihood of a crime happening.</a:t>
            </a:r>
          </a:p>
          <a:p>
            <a:pPr>
              <a:defRPr sz="2000"/>
            </a:pPr>
            <a:r>
              <a:rPr dirty="0"/>
              <a:t>Useful for policing and community safety strategies.</a:t>
            </a:r>
          </a:p>
          <a:p>
            <a:pPr>
              <a:defRPr sz="2000"/>
            </a:pPr>
            <a:r>
              <a:rPr dirty="0"/>
              <a:t>Identify risk factors like time, location, and category.</a:t>
            </a:r>
          </a:p>
          <a:p>
            <a:pPr>
              <a:defRPr sz="2000"/>
            </a:pPr>
            <a:r>
              <a:rPr dirty="0"/>
              <a:t>Assist in resource planning and safety initiatives.</a:t>
            </a:r>
          </a:p>
          <a:p>
            <a:pPr>
              <a:defRPr sz="2000"/>
            </a:pPr>
            <a:r>
              <a:rPr dirty="0"/>
              <a:t>Provide a predictive view of crime dynamics.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Data sourced from Chicago Data Portal (2019–2025).</a:t>
            </a:r>
          </a:p>
          <a:p>
            <a:pPr>
              <a:defRPr sz="2000"/>
            </a:pPr>
            <a:r>
              <a:rPr dirty="0"/>
              <a:t>Includes crime type, location, time, and coordinates.</a:t>
            </a:r>
          </a:p>
          <a:p>
            <a:pPr>
              <a:defRPr sz="2000"/>
            </a:pPr>
            <a:r>
              <a:rPr dirty="0"/>
              <a:t>Categorized as domestic vs non-domestic crimes.</a:t>
            </a:r>
          </a:p>
          <a:p>
            <a:pPr>
              <a:defRPr sz="2000"/>
            </a:pPr>
            <a:r>
              <a:rPr dirty="0"/>
              <a:t>Dataset used for both EDA and machine learning.</a:t>
            </a:r>
          </a:p>
          <a:p>
            <a:pPr>
              <a:defRPr sz="2000"/>
            </a:pPr>
            <a:r>
              <a:rPr dirty="0"/>
              <a:t>Large and diverse dataset enhances model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Crime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45754"/>
            <a:ext cx="7765322" cy="4645446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Most common crimes: Theft, Battery, Criminal Damage.</a:t>
            </a:r>
          </a:p>
          <a:p>
            <a:pPr>
              <a:defRPr sz="2000"/>
            </a:pPr>
            <a:r>
              <a:rPr dirty="0"/>
              <a:t>Theft contributes the highest proportion of crime.</a:t>
            </a:r>
          </a:p>
          <a:p>
            <a:pPr>
              <a:defRPr sz="2000"/>
            </a:pPr>
            <a:r>
              <a:rPr dirty="0"/>
              <a:t>Crime categories indicate behavioral patterns.</a:t>
            </a:r>
          </a:p>
          <a:p>
            <a:pPr>
              <a:defRPr sz="2000"/>
            </a:pPr>
            <a:r>
              <a:rPr dirty="0"/>
              <a:t>Helps identify major crime clusters in the city.</a:t>
            </a:r>
          </a:p>
          <a:p>
            <a:pPr>
              <a:defRPr sz="2000"/>
            </a:pPr>
            <a:r>
              <a:rPr dirty="0"/>
              <a:t>Important for selecting meaningful ML features.</a:t>
            </a:r>
          </a:p>
        </p:txBody>
      </p:sp>
      <p:pic>
        <p:nvPicPr>
          <p:cNvPr id="5" name="Picture 4" descr="31ECD0B8-5D7F-4B3F-A3F4-8CA0FB97BF30.jpeg">
            <a:extLst>
              <a:ext uri="{FF2B5EF4-FFF2-40B4-BE49-F238E27FC236}">
                <a16:creationId xmlns:a16="http://schemas.microsoft.com/office/drawing/2014/main" id="{22E0439C-B083-9C35-913A-1194510B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226866"/>
            <a:ext cx="5559552" cy="2356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Crime Trends Over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035586"/>
            <a:ext cx="7765322" cy="4755614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• Crime trends vary significantly by year.</a:t>
            </a:r>
          </a:p>
          <a:p>
            <a:pPr>
              <a:defRPr sz="2000"/>
            </a:pPr>
            <a:r>
              <a:rPr dirty="0"/>
              <a:t>• 2024 shows the highest crime frequency.</a:t>
            </a:r>
          </a:p>
          <a:p>
            <a:pPr>
              <a:defRPr sz="2000"/>
            </a:pPr>
            <a:r>
              <a:rPr dirty="0"/>
              <a:t>• Temporal patterns influence prediction accuracy.</a:t>
            </a:r>
          </a:p>
          <a:p>
            <a:pPr>
              <a:defRPr sz="2000"/>
            </a:pPr>
            <a:r>
              <a:rPr dirty="0"/>
              <a:t>• Year and month used as essential input features.</a:t>
            </a:r>
          </a:p>
          <a:p>
            <a:pPr>
              <a:defRPr sz="2000"/>
            </a:pPr>
            <a:r>
              <a:rPr dirty="0"/>
              <a:t>• Trends help understand seasonality in crime rates.</a:t>
            </a:r>
          </a:p>
        </p:txBody>
      </p:sp>
      <p:pic>
        <p:nvPicPr>
          <p:cNvPr id="4" name="Picture 3" descr="81907599-B9FE-4144-849E-EE336E5DA3D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087368"/>
            <a:ext cx="4599432" cy="24959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Crime Density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23720"/>
            <a:ext cx="7765322" cy="4667480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• Heatmap reveals high-crime hotspots across Chicago.</a:t>
            </a:r>
          </a:p>
          <a:p>
            <a:pPr>
              <a:defRPr sz="2000"/>
            </a:pPr>
            <a:r>
              <a:rPr dirty="0"/>
              <a:t>• North-east Chicago shows strong clustering.</a:t>
            </a:r>
          </a:p>
          <a:p>
            <a:pPr>
              <a:defRPr sz="2000"/>
            </a:pPr>
            <a:r>
              <a:rPr dirty="0"/>
              <a:t>• Spatial patterns inform safety policies.</a:t>
            </a:r>
          </a:p>
          <a:p>
            <a:pPr>
              <a:defRPr sz="2000"/>
            </a:pPr>
            <a:r>
              <a:rPr dirty="0"/>
              <a:t>• Critical for geospatial crime understanding.</a:t>
            </a:r>
          </a:p>
          <a:p>
            <a:pPr>
              <a:defRPr sz="2000"/>
            </a:pPr>
            <a:r>
              <a:rPr dirty="0"/>
              <a:t>• Supports hotspot-based policing strategies.</a:t>
            </a:r>
          </a:p>
        </p:txBody>
      </p:sp>
      <p:pic>
        <p:nvPicPr>
          <p:cNvPr id="5" name="Picture 4" descr="5B50B269-29FC-428B-84B6-2AC3F3689F4C.jpeg">
            <a:extLst>
              <a:ext uri="{FF2B5EF4-FFF2-40B4-BE49-F238E27FC236}">
                <a16:creationId xmlns:a16="http://schemas.microsoft.com/office/drawing/2014/main" id="{8DCB2B36-CA33-2898-B565-900C6CA2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67" y="4018074"/>
            <a:ext cx="6356733" cy="2497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179521"/>
            <a:ext cx="7765321" cy="1756402"/>
          </a:xfrm>
        </p:spPr>
        <p:txBody>
          <a:bodyPr>
            <a:normAutofit/>
          </a:bodyPr>
          <a:lstStyle/>
          <a:p>
            <a:r>
              <a:rPr dirty="0"/>
              <a:t>EDA: Domestic vs Non-Domestic Crimes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01687"/>
            <a:ext cx="7765322" cy="468951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• Non-domestic crimes dominate with ~81%.</a:t>
            </a:r>
          </a:p>
          <a:p>
            <a:pPr>
              <a:defRPr sz="2000"/>
            </a:pPr>
            <a:r>
              <a:rPr dirty="0"/>
              <a:t>• Domestic crimes form a small proportion (~19%).</a:t>
            </a:r>
          </a:p>
          <a:p>
            <a:pPr>
              <a:defRPr sz="2000"/>
            </a:pPr>
            <a:r>
              <a:rPr dirty="0"/>
              <a:t>• Category imbalance impacts ML behavior.</a:t>
            </a:r>
          </a:p>
          <a:p>
            <a:pPr>
              <a:defRPr sz="2000"/>
            </a:pPr>
            <a:r>
              <a:rPr dirty="0"/>
              <a:t>• Highlights differences in crime intent/context.</a:t>
            </a:r>
          </a:p>
          <a:p>
            <a:pPr>
              <a:defRPr sz="2000"/>
            </a:pPr>
            <a:r>
              <a:rPr dirty="0"/>
              <a:t>• Useful for designing categorical features.</a:t>
            </a:r>
          </a:p>
        </p:txBody>
      </p:sp>
      <p:pic>
        <p:nvPicPr>
          <p:cNvPr id="4" name="Picture 3" descr="C3DEF10C-2240-48DF-8B56-0ED16A4CF8A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744" y="3562120"/>
            <a:ext cx="3200400" cy="3382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Weekly Crime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013552"/>
            <a:ext cx="7765322" cy="4777648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• Fridays show highest weekly crime activity.</a:t>
            </a:r>
          </a:p>
          <a:p>
            <a:pPr>
              <a:defRPr sz="2000"/>
            </a:pPr>
            <a:r>
              <a:rPr dirty="0"/>
              <a:t>• Tuesdays and Thursdays have the lowest crime counts.</a:t>
            </a:r>
          </a:p>
          <a:p>
            <a:pPr>
              <a:defRPr sz="2000"/>
            </a:pPr>
            <a:r>
              <a:rPr dirty="0"/>
              <a:t>• Weekly cycles influence prediction modelling.</a:t>
            </a:r>
          </a:p>
          <a:p>
            <a:pPr>
              <a:defRPr sz="2000"/>
            </a:pPr>
            <a:r>
              <a:rPr dirty="0"/>
              <a:t>• Important temporal feature for analysis.</a:t>
            </a:r>
          </a:p>
          <a:p>
            <a:pPr>
              <a:defRPr sz="2000"/>
            </a:pPr>
            <a:r>
              <a:rPr dirty="0"/>
              <a:t>• Supports detection of routine crime behaviors.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44D673-A0AF-81F3-24A6-0BFEE4B4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33" y="4070733"/>
            <a:ext cx="6791325" cy="278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Extracted hour, weekday, month, year from timestamps.</a:t>
            </a:r>
          </a:p>
          <a:p>
            <a:pPr>
              <a:defRPr sz="2000"/>
            </a:pPr>
            <a:r>
              <a:t>• Applied One-Hot Encoding to categorical fields.</a:t>
            </a:r>
          </a:p>
          <a:p>
            <a:pPr>
              <a:defRPr sz="2000"/>
            </a:pPr>
            <a:r>
              <a:t>• Normalized numerical inputs for consistency.</a:t>
            </a:r>
          </a:p>
          <a:p>
            <a:pPr>
              <a:defRPr sz="2000"/>
            </a:pPr>
            <a:r>
              <a:t>• Removed irrelevant/missing attributes.</a:t>
            </a:r>
          </a:p>
          <a:p>
            <a:pPr>
              <a:defRPr sz="2000"/>
            </a:pPr>
            <a:r>
              <a:t>• Prepared structured dataset for ML modeling.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Model chosen: Random Forest Classifier.</a:t>
            </a:r>
          </a:p>
          <a:p>
            <a:pPr>
              <a:defRPr sz="2000"/>
            </a:pPr>
            <a:r>
              <a:t>• Handles mixed data types effectively.</a:t>
            </a:r>
          </a:p>
          <a:p>
            <a:pPr>
              <a:defRPr sz="2000"/>
            </a:pPr>
            <a:r>
              <a:t>• Provides robust probability-based predictions.</a:t>
            </a:r>
          </a:p>
          <a:p>
            <a:pPr>
              <a:defRPr sz="2000"/>
            </a:pPr>
            <a:r>
              <a:t>• Performs well with large datasets.</a:t>
            </a:r>
          </a:p>
          <a:p>
            <a:pPr>
              <a:defRPr sz="2000"/>
            </a:pPr>
            <a:r>
              <a:t>• Reliable and interpretable ML approach.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Negative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Original dataset contains only crime cases (1).</a:t>
            </a:r>
          </a:p>
          <a:p>
            <a:pPr>
              <a:defRPr sz="2000"/>
            </a:pPr>
            <a:r>
              <a:t>• Generated synthetic 'no crime' records (0).</a:t>
            </a:r>
          </a:p>
          <a:p>
            <a:pPr>
              <a:defRPr sz="2000"/>
            </a:pPr>
            <a:r>
              <a:t>• Balanced dataset improves classifier fairness.</a:t>
            </a:r>
          </a:p>
          <a:p>
            <a:pPr>
              <a:defRPr sz="2000"/>
            </a:pPr>
            <a:r>
              <a:t>• Essential for accurate probability prediction.</a:t>
            </a:r>
          </a:p>
          <a:p>
            <a:pPr>
              <a:defRPr sz="2000"/>
            </a:pPr>
            <a:r>
              <a:t>• Prevents bias toward crime-only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Achieved strong classification accuracy.</a:t>
            </a:r>
          </a:p>
          <a:p>
            <a:pPr>
              <a:defRPr sz="2000"/>
            </a:pPr>
            <a:r>
              <a:t>• Evaluated using accuracy and probability metrics.</a:t>
            </a:r>
          </a:p>
          <a:p>
            <a:pPr>
              <a:defRPr sz="2000"/>
            </a:pPr>
            <a:r>
              <a:t>• Good separation between crime and no-crime cases.</a:t>
            </a:r>
          </a:p>
          <a:p>
            <a:pPr>
              <a:defRPr sz="2000"/>
            </a:pPr>
            <a:r>
              <a:t>• Reliable for real-time predictions.</a:t>
            </a:r>
          </a:p>
          <a:p>
            <a:pPr>
              <a:defRPr sz="2000"/>
            </a:pPr>
            <a:r>
              <a:t>• Supports practical decision-making in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User-friendly Streamlit interface created.</a:t>
            </a:r>
          </a:p>
          <a:p>
            <a:pPr>
              <a:defRPr sz="2000"/>
            </a:pPr>
            <a:r>
              <a:t>• Inputs include time, location, and crime type.</a:t>
            </a:r>
          </a:p>
          <a:p>
            <a:pPr>
              <a:defRPr sz="2000"/>
            </a:pPr>
            <a:r>
              <a:t>• Outputs probability score of crime occurrence.</a:t>
            </a:r>
          </a:p>
          <a:p>
            <a:pPr>
              <a:defRPr sz="2000"/>
            </a:pPr>
            <a:r>
              <a:t>• Dark-themed UI for clean visualization.</a:t>
            </a:r>
          </a:p>
          <a:p>
            <a:pPr>
              <a:defRPr sz="2000"/>
            </a:pPr>
            <a:r>
              <a:t>• Real-time response with ML model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• Screenshot showcasing prediction interface.</a:t>
            </a:r>
          </a:p>
          <a:p>
            <a:pPr>
              <a:defRPr sz="2000"/>
            </a:pPr>
            <a:r>
              <a:rPr dirty="0"/>
              <a:t>• Demonstrates user selections for inputs.</a:t>
            </a:r>
          </a:p>
          <a:p>
            <a:pPr>
              <a:defRPr sz="2000"/>
            </a:pPr>
            <a:r>
              <a:rPr dirty="0"/>
              <a:t>• Displays crime probability output clearly.</a:t>
            </a:r>
          </a:p>
          <a:p>
            <a:pPr>
              <a:defRPr sz="2000"/>
            </a:pPr>
            <a:r>
              <a:rPr dirty="0"/>
              <a:t>• Risk levels: Low, Medium, High shown visually.</a:t>
            </a:r>
          </a:p>
          <a:p>
            <a:pPr>
              <a:defRPr sz="2000"/>
            </a:pPr>
            <a:r>
              <a:rPr dirty="0"/>
              <a:t>• Highlights user interaction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Content Placeholder 3" descr="758E462E-AC53-49B4-AE45-EB42C9A3A06A.jpeg">
            <a:extLst>
              <a:ext uri="{FF2B5EF4-FFF2-40B4-BE49-F238E27FC236}">
                <a16:creationId xmlns:a16="http://schemas.microsoft.com/office/drawing/2014/main" id="{07C73500-6C1C-83CB-DAE2-3DA26CCDC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744" y="173736"/>
            <a:ext cx="8759952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Predictive model offers actionable crime insights.</a:t>
            </a:r>
          </a:p>
          <a:p>
            <a:pPr>
              <a:defRPr sz="2000"/>
            </a:pPr>
            <a:r>
              <a:t>• Future work: add real-time streaming crime data.</a:t>
            </a:r>
          </a:p>
          <a:p>
            <a:pPr>
              <a:defRPr sz="2000"/>
            </a:pPr>
            <a:r>
              <a:t>• Could include weather/socio-economic indicators.</a:t>
            </a:r>
          </a:p>
          <a:p>
            <a:pPr>
              <a:defRPr sz="2000"/>
            </a:pPr>
            <a:r>
              <a:t>• Potential deployment on cloud for public access.</a:t>
            </a:r>
          </a:p>
          <a:p>
            <a:pPr>
              <a:defRPr sz="2000"/>
            </a:pPr>
            <a:r>
              <a:t>• Extend system with deep learning enhancements.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14497</TotalTime>
  <Words>663</Words>
  <Application>Microsoft Macintosh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Rockwell</vt:lpstr>
      <vt:lpstr>Damask</vt:lpstr>
      <vt:lpstr>Chicago Crime Probability Prediction Project</vt:lpstr>
      <vt:lpstr>Chicago Crime Probability Prediction Project</vt:lpstr>
      <vt:lpstr>Problem Statement</vt:lpstr>
      <vt:lpstr>Dataset Overview</vt:lpstr>
      <vt:lpstr>Crime Type Analysis</vt:lpstr>
      <vt:lpstr>Crime Trends Over Years</vt:lpstr>
      <vt:lpstr>Crime Density Map</vt:lpstr>
      <vt:lpstr>EDA: Domestic vs Non-Domestic Crimes</vt:lpstr>
      <vt:lpstr> Weekly Crime Patterns</vt:lpstr>
      <vt:lpstr>Feature Engineering</vt:lpstr>
      <vt:lpstr>Model Training Process</vt:lpstr>
      <vt:lpstr>Synthetic Negative Sampling</vt:lpstr>
      <vt:lpstr>Model Evaluation</vt:lpstr>
      <vt:lpstr>Streamlit App Overview</vt:lpstr>
      <vt:lpstr>Prediction UI</vt:lpstr>
      <vt:lpstr>PowerPoint Presentation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Crime Probability Prediction Project</dc:title>
  <dc:subject/>
  <dc:creator/>
  <cp:keywords/>
  <dc:description>generated using python-pptx</dc:description>
  <cp:lastModifiedBy>Rohith sunkishala</cp:lastModifiedBy>
  <cp:revision>2</cp:revision>
  <dcterms:created xsi:type="dcterms:W3CDTF">2013-01-27T09:14:16Z</dcterms:created>
  <dcterms:modified xsi:type="dcterms:W3CDTF">2025-12-15T01:55:41Z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27dfbf-615c-4d4f-9357-6eb806658d01_Enabled">
    <vt:lpwstr>true</vt:lpwstr>
  </property>
  <property fmtid="{D5CDD505-2E9C-101B-9397-08002B2CF9AE}" pid="3" name="MSIP_Label_b627dfbf-615c-4d4f-9357-6eb806658d01_SetDate">
    <vt:lpwstr>2025-12-04T16:31:00Z</vt:lpwstr>
  </property>
  <property fmtid="{D5CDD505-2E9C-101B-9397-08002B2CF9AE}" pid="4" name="MSIP_Label_b627dfbf-615c-4d4f-9357-6eb806658d01_Method">
    <vt:lpwstr>Standard</vt:lpwstr>
  </property>
  <property fmtid="{D5CDD505-2E9C-101B-9397-08002B2CF9AE}" pid="5" name="MSIP_Label_b627dfbf-615c-4d4f-9357-6eb806658d01_Name">
    <vt:lpwstr>b627dfbf-615c-4d4f-9357-6eb806658d01</vt:lpwstr>
  </property>
  <property fmtid="{D5CDD505-2E9C-101B-9397-08002B2CF9AE}" pid="6" name="MSIP_Label_b627dfbf-615c-4d4f-9357-6eb806658d01_SiteId">
    <vt:lpwstr>951e7c97-7cdd-4af6-a822-c9482cae5056</vt:lpwstr>
  </property>
  <property fmtid="{D5CDD505-2E9C-101B-9397-08002B2CF9AE}" pid="7" name="MSIP_Label_b627dfbf-615c-4d4f-9357-6eb806658d01_ActionId">
    <vt:lpwstr>cdcdbacd-49e7-4fd2-88e4-f7edeae31c2c</vt:lpwstr>
  </property>
  <property fmtid="{D5CDD505-2E9C-101B-9397-08002B2CF9AE}" pid="8" name="MSIP_Label_b627dfbf-615c-4d4f-9357-6eb806658d01_ContentBits">
    <vt:lpwstr>0</vt:lpwstr>
  </property>
  <property fmtid="{D5CDD505-2E9C-101B-9397-08002B2CF9AE}" pid="9" name="MSIP_Label_b627dfbf-615c-4d4f-9357-6eb806658d01_Tag">
    <vt:lpwstr>10, 3, 0, 1</vt:lpwstr>
  </property>
</Properties>
</file>